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1ef8e76604a98" /><Relationship Type="http://schemas.openxmlformats.org/officeDocument/2006/relationships/extended-properties" Target="/docProps/app.xml" Id="R64900105c944491f" /><Relationship Type="http://schemas.openxmlformats.org/officeDocument/2006/relationships/officeDocument" Target="/ppt/presentation.xml" Id="R90b7a3a7c9e2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0b9640e7304425"/>
  </p:sldMasterIdLst>
  <p:notesMasterIdLst>
    <p:notesMasterId xmlns:r="http://schemas.openxmlformats.org/officeDocument/2006/relationships" r:id="R7fc9b60ffc1d4550"/>
  </p:notesMasterIdLst>
  <p:sldIdLst>
    <p:sldId xmlns:r="http://schemas.openxmlformats.org/officeDocument/2006/relationships" id="256" r:id="R00b1e48aacd34fee"/>
    <p:sldId xmlns:r="http://schemas.openxmlformats.org/officeDocument/2006/relationships" id="257" r:id="Rc438fc7c155d48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80bfdf66b94de6" /><Relationship Type="http://schemas.openxmlformats.org/officeDocument/2006/relationships/slideMaster" Target="/ppt/slideMasters/slideMaster1.xml" Id="Rd70b9640e7304425" /><Relationship Type="http://schemas.openxmlformats.org/officeDocument/2006/relationships/notesMaster" Target="/ppt/notesMasters/notesMaster1.xml" Id="R7fc9b60ffc1d4550" /><Relationship Type="http://schemas.openxmlformats.org/officeDocument/2006/relationships/presProps" Target="/ppt/presProps.xml" Id="R7ea1f99a44264969" /><Relationship Type="http://schemas.openxmlformats.org/officeDocument/2006/relationships/tableStyles" Target="/ppt/tableStyles.xml" Id="R7dc1170453a842aa" /><Relationship Type="http://schemas.openxmlformats.org/officeDocument/2006/relationships/slide" Target="/ppt/slides/slide1.xml" Id="R00b1e48aacd34fee" /><Relationship Type="http://schemas.openxmlformats.org/officeDocument/2006/relationships/slide" Target="/ppt/slides/slide2.xml" Id="Rc438fc7c155d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ea4853ae2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c7830413884c8d" /><Relationship Type="http://schemas.openxmlformats.org/officeDocument/2006/relationships/notesMaster" Target="/ppt/notesMasters/notesMaster1.xml" Id="R73c5934e51d64f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edb930bda243b9" /><Relationship Type="http://schemas.openxmlformats.org/officeDocument/2006/relationships/notesMaster" Target="/ppt/notesMasters/notesMaster1.xml" Id="R4db6234b82a14a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DESCRIÇÃO DO Projeto Técnico - Teste de Software de Terceiros.pdf. Os números são dados demonstrativos do V&amp;V TestLab e devem ser substituídos pelos resultados do software escolhido.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dos critérios de entrega: DESCRIÇÃO DO Projeto Técnico - Teste de Software de Terceiros.pdf. Dados do gráfico: estado demonstrativo definido em src/core.js.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e25c3b7014a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e13e1502f246fd" /><Relationship Type="http://schemas.openxmlformats.org/officeDocument/2006/relationships/slideLayout" Target="/ppt/slideLayouts/slideLayout1.xml" Id="R686e5644a15841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6e5644a15841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adbc8bbf341bb" /><Relationship Type="http://schemas.openxmlformats.org/officeDocument/2006/relationships/notesSlide" Target="/ppt/notesSlides/notesSlide1.xml" Id="Rb093d2780719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fcbeb445b468d" /><Relationship Type="http://schemas.openxmlformats.org/officeDocument/2006/relationships/chart" Target="/ppt/slides/charts/chart1.xml" Id="R74c86e7f1c454c07" /><Relationship Type="http://schemas.openxmlformats.org/officeDocument/2006/relationships/notesSlide" Target="/ppt/notesSlides/notesSlide2.xml" Id="R50f336253b27449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Instruções</c:v>
          </c:tx>
          <c:spPr>
            <a:solidFill xmlns:a="http://schemas.openxmlformats.org/drawingml/2006/main">
              <a:srgbClr val="18A6A6"/>
            </a:solidFill>
          </c:spPr>
          <c:cat>
            <c:strRef>
              <c:f>'Chart Data'!$A$2:$A$4</c:f>
              <c:strCache>
                <c:ptCount val="3"/>
                <c:pt idx="0">
                  <c:v>Funcional</c:v>
                </c:pt>
                <c:pt idx="1">
                  <c:v>Estrutural</c:v>
                </c:pt>
                <c:pt idx="2">
                  <c:v>Defeitos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48</c:v>
                </c:pt>
                <c:pt idx="1">
                  <c:v>83</c:v>
                </c:pt>
                <c:pt idx="2">
                  <c:v>89</c:v>
                </c:pt>
              </c:numCache>
            </c:numRef>
          </c:val>
        </c:ser>
        <c:ser>
          <c:idx val="1"/>
          <c:order val="1"/>
          <c:tx>
            <c:v>Desvios</c:v>
          </c:tx>
          <c:spPr>
            <a:solidFill xmlns:a="http://schemas.openxmlformats.org/drawingml/2006/main">
              <a:srgbClr val="6652D9"/>
            </a:solidFill>
          </c:spPr>
          <c:cat>
            <c:strRef>
              <c:f>'Chart Data'!$C$2:$C$4</c:f>
              <c:strCache>
                <c:ptCount val="3"/>
                <c:pt idx="0">
                  <c:v>Funcional</c:v>
                </c:pt>
                <c:pt idx="1">
                  <c:v>Estrutural</c:v>
                </c:pt>
                <c:pt idx="2">
                  <c:v>Defeitos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31</c:v>
                </c:pt>
                <c:pt idx="1">
                  <c:v>74</c:v>
                </c:pt>
                <c:pt idx="2">
                  <c:v>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B0170-6CE1-4DFF-ACD3-75A7AF25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9D63E-CC5C-4453-9492-B6EC6E16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3524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Processo de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desenvolvimento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testes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C578F-60A8-4658-A6B0-5E6B61FB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6E5"/>
                </a:solidFill>
                <a:latin typeface="Arial"/>
                <a:ea typeface="Arial"/>
                <a:cs typeface="Arial"/>
              </a:rPr>
              <a:t>Aplicação incremental das três técnicas no V&amp;V TestLab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4016B-0C77-4748-B8C1-1B407DE2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F55A8-B07D-4FC0-A1B6-23563117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03534-CFE9-4A57-9257-F985BB85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625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Especificação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1E133-1FE0-4777-A363-039D8159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6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6E5"/>
                </a:solidFill>
                <a:latin typeface="Arial"/>
                <a:ea typeface="Arial"/>
                <a:cs typeface="Arial"/>
              </a:rPr>
              <a:t>A ordem evita que o código influencie os testes funcionais.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FD138-F81D-4E2B-B785-CBF3E014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"/>
            <a:ext cx="71056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2A23B-AC70-4FF6-B210-BF18CB0D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"/>
            <a:ext cx="13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35057-C22D-47EC-BA6A-52A67ACC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01  Teste funcional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EB6F3-74B4-4E85-B6D1-EB53CB40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066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A6A6"/>
                </a:solidFill>
                <a:latin typeface="Arial"/>
                <a:ea typeface="Arial"/>
                <a:cs typeface="Arial"/>
              </a:rPr>
              <a:t>Classes de equivalência e valores limite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C9B19-7580-4FA2-89BF-EB1C297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878"/>
                </a:solidFill>
                <a:latin typeface="Arial"/>
                <a:ea typeface="Arial"/>
                <a:cs typeface="Arial"/>
              </a:rPr>
              <a:t>Os testes seguem a especificação e ignoram a implementação.</a:t>
            </a:r>
          </a:p>
          <a:p xmlns:a="http://schemas.openxmlformats.org/drawingml/2006/main">
            <a:pPr algn="l">
              <a:defRPr sz="1350" b="0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878"/>
                </a:solidFill>
                <a:latin typeface="Arial"/>
                <a:ea typeface="Arial"/>
                <a:cs typeface="Arial"/>
              </a:rPr>
              <a:t>Saída do exemplo: 4 casos em pytest.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669EB-66F1-4665-A248-E5A9EE32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71056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4123F-61CD-48C9-9AA6-0EA93630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13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2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85D42-B22F-47D6-8AFA-B296212D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02  Teste estrutural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04F6D-535A-48BC-BD59-9B3D5B7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2D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52D9"/>
                </a:solidFill>
                <a:latin typeface="Arial"/>
                <a:ea typeface="Arial"/>
                <a:cs typeface="Arial"/>
              </a:rPr>
              <a:t>Cobertura orienta os casos adicionais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4FFCA-11BB-4E82-A2F4-98EBEE8A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878"/>
                </a:solidFill>
                <a:latin typeface="Arial"/>
                <a:ea typeface="Arial"/>
                <a:cs typeface="Arial"/>
              </a:rPr>
              <a:t>A suíte funcional é reaproveitada para cobrir nós e desvios.</a:t>
            </a:r>
          </a:p>
          <a:p xmlns:a="http://schemas.openxmlformats.org/drawingml/2006/main">
            <a:pPr algn="l">
              <a:defRPr sz="1350" b="0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878"/>
                </a:solidFill>
                <a:latin typeface="Arial"/>
                <a:ea typeface="Arial"/>
                <a:cs typeface="Arial"/>
              </a:rPr>
              <a:t>Saída do exemplo: 8 casos e 83% de instruções.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5BD28-C6F2-4776-B468-A5FB9F9E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05350"/>
            <a:ext cx="71056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FD08F-4DC5-4BD4-8B38-C3517644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05350"/>
            <a:ext cx="13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08B0B-E3A5-4154-A48D-871D3566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03  Teste baseado em defeitos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2D337-9D91-46CA-86FC-8AFA3E19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D74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D7412"/>
                </a:solidFill>
                <a:latin typeface="Arial"/>
                <a:ea typeface="Arial"/>
                <a:cs typeface="Arial"/>
              </a:rPr>
              <a:t>Mutantes sobreviventes revelam lacunas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2B9B7-33A4-4F3F-8F90-56C904A2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615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878"/>
                </a:solidFill>
                <a:latin typeface="Arial"/>
                <a:ea typeface="Arial"/>
                <a:cs typeface="Arial"/>
              </a:rPr>
              <a:t>Novos testes atacam operadores de mutação específicos.</a:t>
            </a:r>
          </a:p>
          <a:p xmlns:a="http://schemas.openxmlformats.org/drawingml/2006/main">
            <a:pPr algn="l">
              <a:defRPr sz="1350" b="0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878"/>
                </a:solidFill>
                <a:latin typeface="Arial"/>
                <a:ea typeface="Arial"/>
                <a:cs typeface="Arial"/>
              </a:rPr>
              <a:t>Saída do exemplo: 11 casos e escore de 83%.</a:t>
            </a:r>
          </a:p>
        </p:txBody>
      </p:sp>
    </p:spTree>
    <p:extLst>
      <p:ext uri="{BB962C8B-B14F-4D97-AF65-F5344CB8AC3E}">
        <p14:creationId xmlns:p14="http://schemas.microsoft.com/office/powerpoint/2010/main" val="562961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BEA99-CD78-4511-BB47-82203199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BB12A-8AA1-420C-816E-8F0E606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Resultados, dificuldades e lições aprendidas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E7404-6EAE-464B-B00A-764A4FD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878"/>
                </a:solidFill>
                <a:latin typeface="Arial"/>
                <a:ea typeface="Arial"/>
                <a:cs typeface="Arial"/>
              </a:rPr>
              <a:t>Exemplo demonstrativo. Substitua pelos dados finais do software avaliado.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F96FE-96D3-4CED-8538-86B5F123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Cobertura ao longo das etapas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04850" y="2171700"/>
          <a:ext xmlns:a="http://schemas.openxmlformats.org/drawingml/2006/main" cx="6096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c86e7f1c454c0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257F1-E378-441A-B554-71E49323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81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F1FFC-0D7E-4C9D-A67C-726AAD27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4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544D"/>
                </a:solidFill>
                <a:latin typeface="Arial"/>
                <a:ea typeface="Arial"/>
                <a:cs typeface="Arial"/>
              </a:rPr>
              <a:t>Dificuldades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1B397-D11E-4967-96E0-63D558FE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Configurar o ambiente e executar o projeto de terceiros de forma reproduzível.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Interpretar desvios não cobertos e mutantes sobreviventes sem criar testes redundantes.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B0884-22A7-4639-80F8-4BA47D46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6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A6A6"/>
                </a:solidFill>
                <a:latin typeface="Arial"/>
                <a:ea typeface="Arial"/>
                <a:cs typeface="Arial"/>
              </a:rPr>
              <a:t>Lições aprendidas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83D80-896D-422B-B307-3C453CB7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3905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Registrar a rastreabilidade no momento em que cada caso é criado.</a:t>
            </a:r>
          </a:p>
          <a:p xmlns:a="http://schemas.openxmlformats.org/drawingml/2006/main">
            <a:pPr marL="203200" indent="-101600">
              <a:spcAft>
                <a:spcPts val="12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Usar cobertura e mutação como diagnóstico para decidir o próximo teste.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B5F3E-1A3E-4F27-A3C8-A0E5D5D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F418E-685A-477A-91F0-D532BCDA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878"/>
                </a:solidFill>
                <a:latin typeface="Arial"/>
                <a:ea typeface="Arial"/>
                <a:cs typeface="Arial"/>
              </a:rPr>
              <a:t>Meta de cobertura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59CD-616B-4A5C-BB3E-3EA95B4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70609-D984-4696-A702-F1EED95D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8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878"/>
                </a:solidFill>
                <a:latin typeface="Arial"/>
                <a:ea typeface="Arial"/>
                <a:cs typeface="Arial"/>
              </a:rPr>
              <a:t>Resultado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D8646-C08F-4FDC-B680-11886C1A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103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A6A6"/>
                </a:solidFill>
                <a:latin typeface="Arial"/>
                <a:ea typeface="Arial"/>
                <a:cs typeface="Arial"/>
              </a:rPr>
              <a:t>89%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0FD70-C521-41A0-A6FA-179CF6A4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98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878"/>
                </a:solidFill>
                <a:latin typeface="Arial"/>
                <a:ea typeface="Arial"/>
                <a:cs typeface="Arial"/>
              </a:rPr>
              <a:t>Mutação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7776D-C7DB-45F8-9086-5D76CE01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210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652D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652D9"/>
                </a:solidFill>
                <a:latin typeface="Arial"/>
                <a:ea typeface="Arial"/>
                <a:cs typeface="Arial"/>
              </a:rPr>
              <a:t>20 de 24</a:t>
            </a:r>
          </a:p>
        </p:txBody>
      </p:sp>
    </p:spTree>
    <p:extLst>
      <p:ext uri="{BB962C8B-B14F-4D97-AF65-F5344CB8AC3E}">
        <p14:creationId xmlns:p14="http://schemas.microsoft.com/office/powerpoint/2010/main" val="593463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2026-09-04T19:07:47.8670000Z</dcterms:created>
  <dcterms:modified xsi:type="dcterms:W3CDTF">2026-09-04T19:07:47.8670000Z</dcterms:modified>
</coreProperties>
</file>